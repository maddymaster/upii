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51615" y="109728"/>
            <a:ext cx="640080" cy="6748272"/>
          </a:xfrm>
          <a:prstGeom prst="rect">
            <a:avLst/>
          </a:prstGeom>
          <a:solidFill>
            <a:srgbClr val="1A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FF8C42"/>
                </a:solidFill>
                <a:latin typeface="Calibri"/>
              </a:rPr>
              <a:t>GRAND FINALE  ·  KARNATAKA STARTUP  ·  ELEVATE NXT DEEPTECH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 spc="-300">
                <a:solidFill>
                  <a:srgbClr val="F5F1E8"/>
                </a:solidFill>
                <a:latin typeface="Calibri"/>
              </a:rPr>
              <a:t>UPII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Sovereign Memory Engine for Indian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spc="400">
                <a:solidFill>
                  <a:srgbClr val="FF8C42"/>
                </a:solidFill>
                <a:latin typeface="Calibri"/>
              </a:rPr>
              <a:t>Private  ·  On-device  ·  Auditable  ·  Reversible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60520"/>
            <a:ext cx="4114800" cy="2743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8B95A8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Veenadhari Pola  ·  Founder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AE2D0"/>
                </a:solidFill>
                <a:latin typeface="Calibri"/>
              </a:rPr>
              <a:t>Madhusudhan Anand  ·  Co-Founder &amp; CTO  (Advisor of Record)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DataFrontier Innovation Private 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B95A8"/>
                </a:solidFill>
                <a:latin typeface="Calibri"/>
              </a:rPr>
              <a:t>datafrontier.co   ·   veena@datafrontier.co   ·   +91 98665 57800   ·   Bengaluru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6344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300">
                <a:solidFill>
                  <a:srgbClr val="8B95A8"/>
                </a:solidFill>
                <a:latin typeface="Calibri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3776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FF8C42"/>
                </a:solidFill>
                <a:latin typeface="Calibri"/>
              </a:rPr>
              <a:t>ELNXT20260000020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394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300">
                <a:solidFill>
                  <a:srgbClr val="8B95A8"/>
                </a:solidFill>
                <a:latin typeface="Calibri"/>
              </a:rPr>
              <a:t>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66928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AI-ML / Health / Bio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989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Life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Progress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SINCE THE MAY 11 SUBMISSION · 15 DAYS OF FOCUSED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What changed between Pitch Deck B and the Grand Finale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39"/>
            <a:ext cx="352745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39"/>
            <a:ext cx="73152" cy="333756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06039"/>
            <a:ext cx="307025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01 · NEW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26079"/>
            <a:ext cx="307025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A1428"/>
                </a:solidFill>
                <a:latin typeface="Calibri"/>
              </a:rPr>
              <a:t>Ambient memory + inbox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886200"/>
            <a:ext cx="3070250" cy="16916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01A33"/>
                </a:solidFill>
                <a:latin typeface="Calibri"/>
              </a:rPr>
              <a:t>Passive file-system watcher, audit-logged capture, and an explicit approve-to-promote inbox. Trust is the product — nothing reaches long-term memory until you sign 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2122" y="2377439"/>
            <a:ext cx="352745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2122" y="2377439"/>
            <a:ext cx="73152" cy="333756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6442" y="2606039"/>
            <a:ext cx="307025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02 · NEW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442" y="2926079"/>
            <a:ext cx="307025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A1428"/>
                </a:solidFill>
                <a:latin typeface="Calibri"/>
              </a:rPr>
              <a:t>Knowledge graph + explainable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442" y="3886200"/>
            <a:ext cx="3070250" cy="16916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01A33"/>
                </a:solidFill>
                <a:latin typeface="Calibri"/>
              </a:rPr>
              <a:t>Lightweight entity linking with zero graph-DB dependency, plus per-result boost reasons (vector / temporal / entity). Every retrieval carries its own audit trail.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5604" y="2377439"/>
            <a:ext cx="352745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5604" y="2377439"/>
            <a:ext cx="73152" cy="333756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9924" y="2606039"/>
            <a:ext cx="307025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03 · NEW CAPABILITY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9924" y="2926079"/>
            <a:ext cx="307025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A1428"/>
                </a:solidFill>
                <a:latin typeface="Calibri"/>
              </a:rPr>
              <a:t>Local metrics + transparency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9924" y="3886200"/>
            <a:ext cx="3070250" cy="16916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01A33"/>
                </a:solidFill>
                <a:latin typeface="Calibri"/>
              </a:rPr>
              <a:t>On-device telemetry dashboard plus one-command JSON export of all UPII activity. DPOs can self-audit without any data leaving the machine. No phone-home.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11064240" cy="27432"/>
          </a:xfrm>
          <a:prstGeom prst="rect">
            <a:avLst/>
          </a:prstGeom>
          <a:solidFill>
            <a:srgbClr val="29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200">
                <a:solidFill>
                  <a:srgbClr val="0A1428"/>
                </a:solidFill>
                <a:latin typeface="Calibri"/>
              </a:rPr>
              <a:t>VALIDATION  ·  In daily production use at Ambee CTO desk  ·  5 active pilot conversations  ·  91% top-3 retrieval, &lt;300ms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THE DIRTY SECRET NOBODY TALKS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AI is amnesiac. Memory is the next sovereign battleground.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4754880" cy="379476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206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8C42"/>
                </a:solidFill>
                <a:latin typeface="Calibri"/>
              </a:rPr>
              <a:t>THE CONTEXT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2062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 i="0">
                <a:solidFill>
                  <a:srgbClr val="FFFFFF"/>
                </a:solidFill>
                <a:latin typeface="Calibri"/>
              </a:rPr>
              <a:t>₹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79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AE2D0"/>
                </a:solidFill>
                <a:latin typeface="Calibri"/>
              </a:rPr>
              <a:t>of India's regulated enterprise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AE2D0"/>
                </a:solidFill>
                <a:latin typeface="Calibri"/>
              </a:rPr>
              <a:t>can safely meet today's AI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420624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EAE2D0"/>
                </a:solidFill>
                <a:latin typeface="Calibri"/>
              </a:rPr>
              <a:t>Hospitals, banks, defence PSUs, government bodies and research labs face a binary choice — upload everything to a foreign hyperscaler, or use AI that knows nothing about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2377439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9151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1428"/>
                </a:solidFill>
                <a:latin typeface="Calibri"/>
              </a:rPr>
              <a:t>Models forget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39"/>
            <a:ext cx="52120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01A33"/>
                </a:solidFill>
                <a:latin typeface="Calibri"/>
              </a:rPr>
              <a:t>Every chat resets. Institutional decisions, meeting context, three-months-ago decisions — none of it persists.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3657600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39312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1428"/>
                </a:solidFill>
                <a:latin typeface="Calibri"/>
              </a:rPr>
              <a:t>Cloud RAG forces data egress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2120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01A33"/>
                </a:solidFill>
                <a:latin typeface="Calibri"/>
              </a:rPr>
              <a:t>Pinecone, OpenAI vectors, Notion AI — all require your private data to live on US servers. A regulatory non-starter in India.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0" y="4937760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19472"/>
            <a:ext cx="5212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1428"/>
                </a:solidFill>
                <a:latin typeface="Calibri"/>
              </a:rPr>
              <a:t>Generic AI cannot serve regulated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94960"/>
            <a:ext cx="52120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01A33"/>
                </a:solidFill>
                <a:latin typeface="Calibri"/>
              </a:rPr>
              <a:t>DPDP Act 2023, RBI / IRDAI sectoral guidance, defence MoUs — none allow blanket data upload. Adoption stalls in compliance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UNIVERSAL PERSONAL INTELLIGENCE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UPII is the sovereign memory layer that closes the Context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621792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379476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56692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A1428"/>
                </a:solidFill>
                <a:latin typeface="Calibri"/>
              </a:rPr>
              <a:t>A local-first memory substrate that indexes your digital life — documents, meetings, calendars, emails — and serves that context to any LLM, fully on-device.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WHAT IT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79"/>
            <a:ext cx="5669280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01A33"/>
                </a:solidFill>
                <a:latin typeface="Calibri"/>
              </a:rPr>
              <a:t>Not a cloud RAG product — your data never leaves the device.</a:t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01A33"/>
                </a:solidFill>
                <a:latin typeface="Calibri"/>
              </a:rPr>
              <a:t>Not a new LLM — works with Ollama, Gemini, GPT, Claude, anything.</a:t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01A33"/>
                </a:solidFill>
                <a:latin typeface="Calibri"/>
              </a:rPr>
              <a:t>Not a research toy — v0.5 shipping, v1.0 in active development.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331720"/>
            <a:ext cx="4572000" cy="1072896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2468879"/>
            <a:ext cx="4206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8C42"/>
                </a:solidFill>
                <a:latin typeface="Calibri"/>
              </a:rPr>
              <a:t>GUARANTEE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743200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Zero privacy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3154679"/>
            <a:ext cx="4114800" cy="2042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AE2D0"/>
                </a:solidFill>
                <a:latin typeface="Calibri"/>
              </a:rPr>
              <a:t>Data never leaves the machine. Air-gapped deploy supported.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532632"/>
            <a:ext cx="4572000" cy="1072896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3669792"/>
            <a:ext cx="4206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8C42"/>
                </a:solidFill>
                <a:latin typeface="Calibri"/>
              </a:rPr>
              <a:t>GUARANTEE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944112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Sub-300ms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4355592"/>
            <a:ext cx="4114800" cy="2042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AE2D0"/>
                </a:solidFill>
                <a:latin typeface="Calibri"/>
              </a:rPr>
              <a:t>Vector retrieval on commodity CPU. No GPU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733544"/>
            <a:ext cx="4572000" cy="1072896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4870704"/>
            <a:ext cx="4206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8C42"/>
                </a:solidFill>
                <a:latin typeface="Calibri"/>
              </a:rPr>
              <a:t>GUARANTEE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5145024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Zero LLM lock-in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5556504"/>
            <a:ext cx="4114800" cy="2042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AE2D0"/>
                </a:solidFill>
                <a:latin typeface="Calibri"/>
              </a:rPr>
              <a:t>Ollama, Gemini, GPT — drop in any backend, swap any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8064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E06B20"/>
                </a:solidFill>
                <a:latin typeface="Calibri"/>
              </a:rPr>
              <a:t>Audit-logged · Reversible · Open-core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What we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THREE CAPABILITIES LIVE AND DEMOABLE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Each one built in direct response to enterprise pilot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54573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545738" cy="4114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31720"/>
            <a:ext cx="2997098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0A1428"/>
                </a:solidFill>
                <a:latin typeface="Calibri"/>
              </a:rPr>
              <a:t>01  · 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39"/>
            <a:ext cx="3088538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A1428"/>
                </a:solidFill>
                <a:latin typeface="Calibri"/>
              </a:rPr>
              <a:t>Ambient memory + inbox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308853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E06B20"/>
                </a:solidFill>
                <a:latin typeface="Calibri"/>
              </a:rPr>
              <a:t>Passive observation, explicit commitment.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308853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Opt-in watcher captures changes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Lands in staging DB, not LTM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Operator must approve to promote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Audit trail per source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5349240"/>
            <a:ext cx="2997098" cy="59436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281421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FF8C42"/>
                </a:solidFill>
                <a:latin typeface="Calibri"/>
              </a:rPr>
              <a:t>LIVE DEMO 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28142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Consolas"/>
              </a:rPr>
              <a:t>$ upii inbox --approve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2978" y="2331720"/>
            <a:ext cx="354573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2978" y="2331720"/>
            <a:ext cx="3545738" cy="4114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7298" y="2331720"/>
            <a:ext cx="2997098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0A1428"/>
                </a:solidFill>
                <a:latin typeface="Calibri"/>
              </a:rPr>
              <a:t>02  · 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1578" y="2834639"/>
            <a:ext cx="3088538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A1428"/>
                </a:solidFill>
                <a:latin typeface="Calibri"/>
              </a:rPr>
              <a:t>Knowledge graph + explainable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3703320"/>
            <a:ext cx="308853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E06B20"/>
                </a:solidFill>
                <a:latin typeface="Calibri"/>
              </a:rPr>
              <a:t>Why this answer? Always traceable.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578" y="4114800"/>
            <a:ext cx="308853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Entity linking, zero graph-DB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3 parallel retrievers in parallel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Boost reason on every result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`--debug` exposes the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7298" y="5349240"/>
            <a:ext cx="2997098" cy="59436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8738" y="5413248"/>
            <a:ext cx="281421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FF8C42"/>
                </a:solidFill>
                <a:latin typeface="Calibri"/>
              </a:rPr>
              <a:t>LIVE DEMO COMMAND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8738" y="5669280"/>
            <a:ext cx="28142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Consolas"/>
              </a:rPr>
              <a:t>$ upii ask "..." --debug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2331720"/>
            <a:ext cx="354573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7316" y="2331720"/>
            <a:ext cx="3545738" cy="4114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1636" y="2331720"/>
            <a:ext cx="2997098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0A1428"/>
                </a:solidFill>
                <a:latin typeface="Calibri"/>
              </a:rPr>
              <a:t>03  ·  TRANSPARENCY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5916" y="2834639"/>
            <a:ext cx="3088538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A1428"/>
                </a:solidFill>
                <a:latin typeface="Calibri"/>
              </a:rPr>
              <a:t>Local metrics + exportable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5916" y="3703320"/>
            <a:ext cx="308853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E06B20"/>
                </a:solidFill>
                <a:latin typeface="Calibri"/>
              </a:rPr>
              <a:t>Self-audit. No phone-home.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5916" y="4114800"/>
            <a:ext cx="308853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7-day rolling dashboard on-device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One-command JSON activity export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DPO / CISO audit without raw data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101A33"/>
                </a:solidFill>
                <a:latin typeface="Calibri"/>
              </a:rPr>
              <a:t>Foundation for v2.0 multi-tenant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71636" y="5349240"/>
            <a:ext cx="2997098" cy="59436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3076" y="5413248"/>
            <a:ext cx="281421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FF8C42"/>
                </a:solidFill>
                <a:latin typeface="Calibri"/>
              </a:rPr>
              <a:t>LIVE DEMO 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3076" y="5669280"/>
            <a:ext cx="28142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5F1E8"/>
                </a:solidFill>
                <a:latin typeface="Consolas"/>
              </a:rPr>
              <a:t>$ upii metrics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EAE2D0"/>
                </a:solidFill>
                <a:latin typeface="Calibri"/>
              </a:rPr>
              <a:t>DataFrontier   ·   UPII Sovereign Memory   · 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AE2D0"/>
                </a:solidFill>
                <a:latin typeface="Calibri"/>
              </a:rPr>
              <a:t>06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8C42"/>
                </a:solidFill>
                <a:latin typeface="Calibri"/>
              </a:rPr>
              <a:t>FROM CLI TO COURTROOM-READY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See it work — sovereign RAG in under 90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7589520" cy="3794760"/>
          </a:xfrm>
          <a:prstGeom prst="roundRect">
            <a:avLst>
              <a:gd name="adj" fmla="val 8000"/>
            </a:avLst>
          </a:prstGeom>
          <a:solidFill>
            <a:srgbClr val="1A2845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 rot="1800000">
            <a:off x="4114800" y="3451860"/>
            <a:ext cx="1005840" cy="1005840"/>
          </a:xfrm>
          <a:prstGeom prst="rtTriangl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300">
                <a:solidFill>
                  <a:srgbClr val="FF8C42"/>
                </a:solidFill>
                <a:latin typeface="Calibri"/>
              </a:rPr>
              <a:t>DEMO VIDEO  ·  90 SECONDS  ·  PRE-RECORDED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7589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Embed demo.mp4 here before the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7589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EAE2D0"/>
                </a:solidFill>
                <a:latin typeface="Calibri"/>
              </a:rPr>
              <a:t>(Fallback: open Terminal and run the live CLI sequence)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3172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8C42"/>
                </a:solidFill>
                <a:latin typeface="Calibri"/>
              </a:rPr>
              <a:t>WHAT THE JURY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43200"/>
            <a:ext cx="640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8C42"/>
                </a:solidFill>
                <a:latin typeface="Consolas"/>
              </a:rPr>
              <a:t>00:00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743200"/>
            <a:ext cx="1371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F1E8"/>
                </a:solidFill>
                <a:latin typeface="Consolas"/>
              </a:rPr>
              <a:t>doctor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990088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Health check, fully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291840"/>
            <a:ext cx="640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8C42"/>
                </a:solidFill>
                <a:latin typeface="Consolas"/>
              </a:rPr>
              <a:t>00:08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91840"/>
            <a:ext cx="1371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F1E8"/>
                </a:solidFill>
                <a:latin typeface="Consolas"/>
              </a:rPr>
              <a:t>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538728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5 sensitive Ambee docs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40480"/>
            <a:ext cx="640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8C42"/>
                </a:solidFill>
                <a:latin typeface="Consolas"/>
              </a:rPr>
              <a:t>00:24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840480"/>
            <a:ext cx="1371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F1E8"/>
                </a:solidFill>
                <a:latin typeface="Consolas"/>
              </a:rPr>
              <a:t>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087368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ICEYE resolution recalled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389120"/>
            <a:ext cx="640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8C42"/>
                </a:solidFill>
                <a:latin typeface="Consolas"/>
              </a:rPr>
              <a:t>00:42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389120"/>
            <a:ext cx="1371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F1E8"/>
                </a:solidFill>
                <a:latin typeface="Consolas"/>
              </a:rPr>
              <a:t>synth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636008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Cross-doc PACE +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937759"/>
            <a:ext cx="640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8C42"/>
                </a:solidFill>
                <a:latin typeface="Consolas"/>
              </a:rPr>
              <a:t>01:00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937759"/>
            <a:ext cx="1371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F1E8"/>
                </a:solidFill>
                <a:latin typeface="Consolas"/>
              </a:rPr>
              <a:t>honest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184648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"I don't know" — no hallucination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486399"/>
            <a:ext cx="6400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8C42"/>
                </a:solidFill>
                <a:latin typeface="Consolas"/>
              </a:rPr>
              <a:t>01:18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486399"/>
            <a:ext cx="1371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F1E8"/>
                </a:solidFill>
                <a:latin typeface="Consolas"/>
              </a:rPr>
              <a:t>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733288"/>
            <a:ext cx="30175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Boost reason: temporal+entity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R&amp;D depth · architecture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THREE-LAYER ARCHITECTURE, EVERY LAYER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Foundational AI infrastructure — not a wrapper.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486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CONTEXT REHYDRATION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79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97479"/>
            <a:ext cx="73152" cy="107899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LAYER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39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428"/>
                </a:solidFill>
                <a:latin typeface="Calibri"/>
              </a:rPr>
              <a:t>Ingestion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5120640" cy="25603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01A33"/>
                </a:solidFill>
                <a:latin typeface="Calibri"/>
              </a:rPr>
              <a:t>Recursive semantic chunking + content-hash dedup + per-chunk provenance.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67911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67911"/>
            <a:ext cx="73152" cy="107899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LAYER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33672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428"/>
                </a:solidFill>
                <a:latin typeface="Calibri"/>
              </a:rPr>
              <a:t>Hybrid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45151"/>
            <a:ext cx="5120640" cy="25603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01A33"/>
                </a:solidFill>
                <a:latin typeface="Calibri"/>
              </a:rPr>
              <a:t>SQLite metadata + LanceDB columnar vectors. Memory-mapped, no RAM blow-up.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38344"/>
            <a:ext cx="54864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038344"/>
            <a:ext cx="73152" cy="107899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48072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LAYER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04104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428"/>
                </a:solidFill>
                <a:latin typeface="Calibri"/>
              </a:rPr>
              <a:t>Context Rehydration (core IP)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15583"/>
            <a:ext cx="5120640" cy="25603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01A33"/>
                </a:solidFill>
                <a:latin typeface="Calibri"/>
              </a:rPr>
              <a:t>3 parallel retrievers — vector, temporal, KG — scored and explained.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31720"/>
            <a:ext cx="5486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MEASURED ON THE AMBEE PILOT DATASET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697479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834639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8C42"/>
                </a:solidFill>
                <a:latin typeface="Calibri"/>
              </a:rPr>
              <a:t>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971799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5F1E8"/>
                </a:solidFill>
                <a:latin typeface="Calibri"/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20439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Top-3 retrieval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834639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8C42"/>
                </a:solidFill>
                <a:latin typeface="Calibri"/>
              </a:rPr>
              <a:t>&lt;300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71799"/>
            <a:ext cx="640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5F1E8"/>
                </a:solidFill>
                <a:latin typeface="Calibri"/>
              </a:rPr>
              <a:t>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520439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End-to-end recall (P95)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2336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8C42"/>
                </a:solidFill>
                <a:latin typeface="Calibri"/>
              </a:rPr>
              <a:t>22M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709160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Embedder params · CPU-only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02336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8C42"/>
                </a:solidFill>
                <a:latin typeface="Calibri"/>
              </a:rPr>
              <a:t>₹40K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709160"/>
            <a:ext cx="23774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Minimum laptop for full UPII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5120640"/>
            <a:ext cx="4663440" cy="2743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212079"/>
            <a:ext cx="4663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8C42"/>
                </a:solidFill>
                <a:latin typeface="Calibri"/>
              </a:rPr>
              <a:t>VALIDATED 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486400"/>
            <a:ext cx="46634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AE2D0"/>
                </a:solidFill>
                <a:latin typeface="Calibri"/>
              </a:rPr>
              <a:t>Real Ambee corpus: NASA PACE meeting notes, ICEYE SAR terms, internal roadmap, confidential tasking coordinates.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Validation · real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WE ARE NOT PITCHING A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UPII is in daily production use at Ambee — and the pipeline is forming.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760720" cy="379476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53035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8C42"/>
                </a:solidFill>
                <a:latin typeface="Calibri"/>
              </a:rPr>
              <a:t>ANCHOR CUSTOMER · IN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5303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Ambee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EAE2D0"/>
                </a:solidFill>
                <a:latin typeface="Calibri"/>
              </a:rPr>
              <a:t>Environmental intelligence company — NASA, ESA, ICEYE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8C42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97679"/>
            <a:ext cx="525780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EAE2D0"/>
                </a:solidFill>
                <a:latin typeface="Calibri"/>
              </a:rPr>
              <a:t>CTO desk runs UPII daily across satellite tasking coords, partnership NDAs, board prep — all confidential.</a:t>
            </a:r>
          </a:p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EAE2D0"/>
                </a:solidFill>
                <a:latin typeface="Calibri"/>
              </a:rPr>
              <a:t>Measured outcome at the CTO desk: 2–3 hours per week recovered on context retrieval.</a:t>
            </a:r>
          </a:p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EAE2D0"/>
                </a:solidFill>
                <a:latin typeface="Calibri"/>
              </a:rPr>
              <a:t>Same operator is the CTO and the UPII architect — zero-latency feedback loop.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623560"/>
            <a:ext cx="5120640" cy="2743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FF8C42"/>
                </a:solidFill>
                <a:latin typeface="Calibri"/>
              </a:rPr>
              <a:t>100+ enterprise clients in Ambee network → warm pipeline for UPII Enterprise.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505937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ACTIVE PILOT CONVERSATIONS  ·  5 ORGS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697479"/>
            <a:ext cx="5059375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697479"/>
            <a:ext cx="73152" cy="640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770632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E06B20"/>
                </a:solidFill>
                <a:latin typeface="Calibri"/>
              </a:rPr>
              <a:t>BFSI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990087"/>
            <a:ext cx="46936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Mid-size NBFC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70632"/>
            <a:ext cx="36420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01A33"/>
                </a:solidFill>
                <a:latin typeface="Calibri"/>
              </a:rPr>
              <a:t>DPDP-compliant memory for compliance ops — POC scoping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401568"/>
            <a:ext cx="5059375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401568"/>
            <a:ext cx="73152" cy="640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47472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E06B20"/>
                </a:solidFill>
                <a:latin typeface="Calibri"/>
              </a:rPr>
              <a:t>HEALTHCARE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694176"/>
            <a:ext cx="46936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Hospital network · Bengaluru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474720"/>
            <a:ext cx="36420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01A33"/>
                </a:solidFill>
                <a:latin typeface="Calibri"/>
              </a:rPr>
              <a:t>Private memory for clinician notes — confidentiality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105656"/>
            <a:ext cx="5059375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4105656"/>
            <a:ext cx="73152" cy="640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178808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E06B20"/>
                </a:solidFill>
                <a:latin typeface="Calibri"/>
              </a:rPr>
              <a:t>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398264"/>
            <a:ext cx="46936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Climate-tech research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178808"/>
            <a:ext cx="36420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01A33"/>
                </a:solidFill>
                <a:latin typeface="Calibri"/>
              </a:rPr>
              <a:t>Local memory for sensor + paper corpora — demo scheduled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809744"/>
            <a:ext cx="5059375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4809744"/>
            <a:ext cx="73152" cy="640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4882896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E06B20"/>
                </a:solidFill>
                <a:latin typeface="Calibri"/>
              </a:rPr>
              <a:t>GOVT-ADJ.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5102352"/>
            <a:ext cx="46936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PSU-linked think tank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882896"/>
            <a:ext cx="36420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01A33"/>
                </a:solidFill>
                <a:latin typeface="Calibri"/>
              </a:rPr>
              <a:t>Sovereign AI infra — concept validation in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5513831"/>
            <a:ext cx="5059375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5513831"/>
            <a:ext cx="73152" cy="6400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5586983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E06B20"/>
                </a:solidFill>
                <a:latin typeface="Calibri"/>
              </a:rPr>
              <a:t>DEEPTECH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5806440"/>
            <a:ext cx="46936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Bengaluru AI-first startup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586983"/>
            <a:ext cx="36420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01A33"/>
                </a:solidFill>
                <a:latin typeface="Calibri"/>
              </a:rPr>
              <a:t>SDK integration for their private agent product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6263639"/>
            <a:ext cx="505937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B95A8"/>
                </a:solidFill>
                <a:latin typeface="Calibri"/>
              </a:rPr>
              <a:t>Named details withheld pending pilot agreements — references on jury request.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Market · India regulated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BEACHHEAD: REGULATED INDIAN ENTERPRISE AI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We are not chasing every AI buyer. We're going where cloud RAG cannot 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EA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TAM · 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34639"/>
            <a:ext cx="320040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1428"/>
                </a:solidFill>
                <a:latin typeface="Calibri"/>
              </a:rPr>
              <a:t>$ 200B+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49039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0A1428"/>
                </a:solidFill>
                <a:latin typeface="Calibri"/>
              </a:rPr>
              <a:t>Global AI infrastructure spend — embeddings, vector DBs, agent platforms.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0A1428"/>
                </a:solidFill>
                <a:latin typeface="Calibri"/>
              </a:rPr>
              <a:t>SAM ·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39"/>
            <a:ext cx="320040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$ 18B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39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Trustworthy / explainable / governed AI — the sub-segment regulators demand.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3317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1460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8C42"/>
                </a:solidFill>
                <a:latin typeface="Calibri"/>
              </a:rPr>
              <a:t>SOM · Y1-3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34639"/>
            <a:ext cx="320040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₹ 500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49039"/>
            <a:ext cx="32004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AE2D0"/>
                </a:solidFill>
                <a:latin typeface="Calibri"/>
              </a:rPr>
              <a:t>Indian regulated enterprise AI infra — addressable from Bengaluru.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WHY WE WIN  —  COMPETITIVE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983480"/>
            <a:ext cx="21274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944563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Mem.ai / Notion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58968"/>
            <a:ext cx="194456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5B6782"/>
                </a:solidFill>
                <a:latin typeface="Calibri"/>
              </a:rPr>
              <a:t>Cloud-first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24728"/>
            <a:ext cx="194456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Data leaves the device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13243" y="4983480"/>
            <a:ext cx="21274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0403" y="5074920"/>
            <a:ext cx="1944563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Microsoft 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0403" y="5458968"/>
            <a:ext cx="194456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5B6782"/>
                </a:solidFill>
                <a:latin typeface="Calibri"/>
              </a:rPr>
              <a:t>Microsoft 365 lock-in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0403" y="5824728"/>
            <a:ext cx="194456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Cloud tenancy mandatory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32126" y="4983480"/>
            <a:ext cx="21274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9286" y="5074920"/>
            <a:ext cx="1944563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LlamaIndex / Lang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9286" y="5458968"/>
            <a:ext cx="194456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5B6782"/>
                </a:solidFill>
                <a:latin typeface="Calibri"/>
              </a:rPr>
              <a:t>Developer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9286" y="5824728"/>
            <a:ext cx="194456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Not a product, not governed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51009" y="4983480"/>
            <a:ext cx="21274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88169" y="5074920"/>
            <a:ext cx="1944563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428"/>
                </a:solidFill>
                <a:latin typeface="Calibri"/>
              </a:rPr>
              <a:t>Pinecone / Weaviate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169" y="5458968"/>
            <a:ext cx="194456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5B6782"/>
                </a:solidFill>
                <a:latin typeface="Calibri"/>
              </a:rPr>
              <a:t>Vector storage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169" y="5824728"/>
            <a:ext cx="194456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No governance, no audit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9892" y="4983480"/>
            <a:ext cx="2127443" cy="141732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7052" y="5074920"/>
            <a:ext cx="1944563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8C42"/>
                </a:solidFill>
                <a:latin typeface="Calibri"/>
              </a:rPr>
              <a:t>UPII (us)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7052" y="5458968"/>
            <a:ext cx="194456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EAE2D0"/>
                </a:solidFill>
                <a:latin typeface="Calibri"/>
              </a:rPr>
              <a:t>Local + governed + explainable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7052" y="5824728"/>
            <a:ext cx="1944563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On-device, auditable, reversible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Commercialisation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OPEN CORE, ENTERPRISE LICENSE, DEVELOPER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Multiple revenue streams. High switching cost. Risk infrastructure pricing.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3152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REVENUE STREAMS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79"/>
            <a:ext cx="6949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97479"/>
            <a:ext cx="73152" cy="80467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70632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428"/>
                </a:solidFill>
                <a:latin typeface="Calibri"/>
              </a:rPr>
              <a:t>Enterprise 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7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06B20"/>
                </a:solidFill>
                <a:latin typeface="Consolas"/>
              </a:rPr>
              <a:t>₹ 15 – 50 L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34639"/>
            <a:ext cx="3749039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01A33"/>
                </a:solidFill>
                <a:latin typeface="Calibri"/>
              </a:rPr>
              <a:t>Air-gapped on-prem deploy, SLA, audit logs, SSO. BFSI, healthcare, govt PSUs.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93591"/>
            <a:ext cx="6949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93591"/>
            <a:ext cx="73152" cy="80467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66744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428"/>
                </a:solidFill>
                <a:latin typeface="Calibri"/>
              </a:rPr>
              <a:t>SDK / API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06B20"/>
                </a:solidFill>
                <a:latin typeface="Consolas"/>
              </a:rPr>
              <a:t>₹ 499 / month /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730752"/>
            <a:ext cx="3749039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01A33"/>
                </a:solidFill>
                <a:latin typeface="Calibri"/>
              </a:rPr>
              <a:t>AI-first startups embedding UPII as their private memory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9704"/>
            <a:ext cx="6949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9704"/>
            <a:ext cx="73152" cy="80467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62856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428"/>
                </a:solidFill>
                <a:latin typeface="Calibri"/>
              </a:rPr>
              <a:t>Open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73752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06B20"/>
                </a:solidFill>
                <a:latin typeface="Consolas"/>
              </a:rPr>
              <a:t>Free · 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626864"/>
            <a:ext cx="3749039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01A33"/>
                </a:solidFill>
                <a:latin typeface="Calibri"/>
              </a:rPr>
              <a:t>MIT-licensed core engine. Builds trust + developer adoption funnel.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85816"/>
            <a:ext cx="6949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85816"/>
            <a:ext cx="73152" cy="80467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58968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1428"/>
                </a:solidFill>
                <a:latin typeface="Calibri"/>
              </a:rPr>
              <a:t>Professional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69864"/>
            <a:ext cx="2560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06B20"/>
                </a:solidFill>
                <a:latin typeface="Consolas"/>
              </a:rPr>
              <a:t>Project-based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5522976"/>
            <a:ext cx="3749039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01A33"/>
                </a:solidFill>
                <a:latin typeface="Calibri"/>
              </a:rPr>
              <a:t>Custom connectors, integration, compliance support, training.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331720"/>
            <a:ext cx="387065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WHY CUSTOMERS PAY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697479"/>
            <a:ext cx="3870655" cy="342900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2880360"/>
            <a:ext cx="34134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Risk 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246120"/>
            <a:ext cx="34134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8C42"/>
                </a:solidFill>
                <a:latin typeface="Calibri"/>
              </a:rPr>
              <a:t>— not discretionary software.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794760"/>
            <a:ext cx="3413455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EAE2D0"/>
                </a:solidFill>
                <a:latin typeface="Calibri"/>
              </a:rPr>
              <a:t>Single DPDP-flagged breach costs an Indian BFSI firm ₹1 Cr+ in fines and remediation.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EAE2D0"/>
                </a:solidFill>
                <a:latin typeface="Calibri"/>
              </a:rPr>
              <a:t>UPII Enterprise is ≤ 5% of that risk exposure — annually.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150" b="0" i="0">
                <a:solidFill>
                  <a:srgbClr val="EAE2D0"/>
                </a:solidFill>
                <a:latin typeface="Calibri"/>
              </a:rPr>
              <a:t>Once memory is embedded, switching out means losing audit-trail continuity.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5349240"/>
            <a:ext cx="3413455" cy="2743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5440680"/>
            <a:ext cx="341345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8C42"/>
                </a:solidFill>
                <a:latin typeface="Calibri"/>
              </a:rPr>
              <a:t>ENTERPRISE LTV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715000"/>
            <a:ext cx="341345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₹ 7 – 10 Cr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Socio-economic impact · Karnataka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SOVEREIGN AI MADE IN KARNATAKA, USED BY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Four impact vectors aligned directly with the state's deeptech mandate.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670733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73152" cy="24688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468879"/>
            <a:ext cx="235069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A1428"/>
                </a:solidFill>
                <a:latin typeface="Calibri"/>
              </a:rPr>
              <a:t>Data Sovereignty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08960"/>
            <a:ext cx="2350693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Indian enterprise and citizen data never leaves Indian soil. DPDP Act 2023 compliant by design. Critical for state-government workloads.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389120"/>
            <a:ext cx="235069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E06B20"/>
                </a:solidFill>
                <a:latin typeface="Calibri"/>
              </a:rPr>
              <a:t>→ DPDP-ready for Karnataka govt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2331720"/>
            <a:ext cx="2670733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6533" y="2331720"/>
            <a:ext cx="73152" cy="24688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701" y="2468879"/>
            <a:ext cx="235069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A1428"/>
                </a:solidFill>
                <a:latin typeface="Calibri"/>
              </a:rPr>
              <a:t>Democratised AI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701" y="3108960"/>
            <a:ext cx="2350693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Runs on a ₹40,000 CPU laptop — no GPU, no cloud bill. SMEs, district offices, and primary care centres can run private 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701" y="4389120"/>
            <a:ext cx="235069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E06B20"/>
                </a:solidFill>
                <a:latin typeface="Calibri"/>
              </a:rPr>
              <a:t>→ AI for the next 100 million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331720"/>
            <a:ext cx="2670733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4427" y="2331720"/>
            <a:ext cx="73152" cy="24688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5595" y="2468879"/>
            <a:ext cx="235069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A1428"/>
                </a:solidFill>
                <a:latin typeface="Calibri"/>
              </a:rPr>
              <a:t>Karnataka Talent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595" y="3108960"/>
            <a:ext cx="2350693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Recruitment from Bengaluru's deeptech corridor — IISc, IIITB, PES, BMSCE, RVCE. ML and infra engineering, not support roles.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595" y="4389120"/>
            <a:ext cx="235069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E06B20"/>
                </a:solidFill>
                <a:latin typeface="Calibri"/>
              </a:rPr>
              <a:t>→ 5+ engineering hires in Bengaluru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321" y="2331720"/>
            <a:ext cx="2670733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72321" y="2331720"/>
            <a:ext cx="73152" cy="24688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3489" y="2468879"/>
            <a:ext cx="235069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A1428"/>
                </a:solidFill>
                <a:latin typeface="Calibri"/>
              </a:rPr>
              <a:t>Open-Core for Karnataka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3489" y="3108960"/>
            <a:ext cx="2350693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MIT-licensed core engine. Any Bengaluru AI startup can embed private memory in their product without paying foreign cloud bills.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3489" y="4389120"/>
            <a:ext cx="235069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E06B20"/>
                </a:solidFill>
                <a:latin typeface="Calibri"/>
              </a:rPr>
              <a:t>→ Free SDK for Karnataka community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02352"/>
            <a:ext cx="109728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8C42"/>
                </a:solidFill>
                <a:latin typeface="Calibri"/>
              </a:rPr>
              <a:t>KARNATAKA ECOSYSTEM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67528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Built in Bengaluru · for India · for the world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24728"/>
            <a:ext cx="5486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FF8C42"/>
                </a:solidFill>
                <a:latin typeface="Calibri"/>
              </a:rPr>
              <a:t>12-month projection: 5 jobs · 5 pilots · 1 research paper · open-core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48072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·  K-Tech / KITS — sovereign AI infra for state digital programmes.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85816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·  NASSCOM Bengaluru — co-sell channel for regulated-sector pilots.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62356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·  IISc / IIITB — retrieval + KG benchmark collaboration.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861304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E2D0"/>
                </a:solidFill>
                <a:latin typeface="Calibri"/>
              </a:rPr>
              <a:t>·  SDG 9 + SDG 16 alignment.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Team · practitioners who faced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BUILT BY OPERATORS WHO NEEDED THIS THEMSELVES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DataFrontier is 7+ engineers with three decades of combined enterprise AI and infra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576218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576218" cy="38404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321045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A1428"/>
                </a:solidFill>
                <a:latin typeface="Calibri"/>
              </a:rPr>
              <a:t>FOUNDER &amp;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32104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A1428"/>
                </a:solidFill>
                <a:latin typeface="Calibri"/>
              </a:rPr>
              <a:t>Veenadhari Pola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91839"/>
            <a:ext cx="32104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06B20"/>
                </a:solidFill>
                <a:latin typeface="Calibri"/>
              </a:rPr>
              <a:t>BCA, Symbiosis · Bengaluru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31920"/>
            <a:ext cx="3210458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17+ years in enterprise technology and operations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Led cross-functional teams in regulated enterprise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Owns product, GTM, fundraising, regulator relationships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5486400"/>
            <a:ext cx="3210458" cy="27432"/>
          </a:xfrm>
          <a:prstGeom prst="rect">
            <a:avLst/>
          </a:prstGeom>
          <a:solidFill>
            <a:srgbClr val="29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559552"/>
            <a:ext cx="321045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E06B20"/>
                </a:solidFill>
                <a:latin typeface="Calibri"/>
              </a:rPr>
              <a:t>PRIOR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88152"/>
            <a:ext cx="321045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1428"/>
                </a:solidFill>
                <a:latin typeface="Calibri"/>
              </a:rPr>
              <a:t>HPE · Avaya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7738" y="2331720"/>
            <a:ext cx="3576218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7738" y="2331720"/>
            <a:ext cx="3576218" cy="38404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8906" y="2331720"/>
            <a:ext cx="321045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A1428"/>
                </a:solidFill>
                <a:latin typeface="Calibri"/>
              </a:rPr>
              <a:t>CO-FOUNDER &amp; 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906" y="2788920"/>
            <a:ext cx="32104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A1428"/>
                </a:solidFill>
                <a:latin typeface="Calibri"/>
              </a:rPr>
              <a:t>Madhusudhan Anand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3291839"/>
            <a:ext cx="32104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06B20"/>
                </a:solidFill>
                <a:latin typeface="Calibri"/>
              </a:rPr>
              <a:t>BITS Pilani · IIIT Bangalore · MS Data Science, LJMU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906" y="3931920"/>
            <a:ext cx="3210458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CTO at Ambee — scaled product to several $M ARR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Raised institutional funding; built deep-tech teams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Granted patents + papers in data systems &amp; indexing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Author of the UPII core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8906" y="5486400"/>
            <a:ext cx="3210458" cy="27432"/>
          </a:xfrm>
          <a:prstGeom prst="rect">
            <a:avLst/>
          </a:prstGeom>
          <a:solidFill>
            <a:srgbClr val="29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8906" y="5559552"/>
            <a:ext cx="321045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E06B20"/>
                </a:solidFill>
                <a:latin typeface="Calibri"/>
              </a:rPr>
              <a:t>PRIOR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906" y="5788152"/>
            <a:ext cx="321045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1428"/>
                </a:solidFill>
                <a:latin typeface="Calibri"/>
              </a:rPr>
              <a:t>Ambee · HackerEarth · Dell · HPE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6836" y="2331720"/>
            <a:ext cx="3576218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6836" y="2331720"/>
            <a:ext cx="3576218" cy="38404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8004" y="2331720"/>
            <a:ext cx="321045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0A1428"/>
                </a:solidFill>
                <a:latin typeface="Calibri"/>
              </a:rPr>
              <a:t>CHIEF DATA SCIENTIST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8004" y="2788920"/>
            <a:ext cx="32104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A1428"/>
                </a:solidFill>
                <a:latin typeface="Calibri"/>
              </a:rPr>
              <a:t>Dr. Chaitra C 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8004" y="3291839"/>
            <a:ext cx="321045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06B20"/>
                </a:solidFill>
                <a:latin typeface="Calibri"/>
              </a:rPr>
              <a:t>Ph.D. CS, BITS Pilani Hyderabad · PG Dip AI/ML, IIIT Bangalore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8004" y="3931920"/>
            <a:ext cx="3210458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8+ years across applied AI research and industry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5 peer-reviewed papers at ACL, ECIR, Springer venues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Built LLM apps (LeGen, Prabodhini) — T5/BART, GPT/Llama, LangChain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8C42"/>
                </a:solidFill>
                <a:latin typeface="Calibri"/>
              </a:rPr>
              <a:t>·  </a:t>
            </a:r>
            <a:r>
              <a:rPr sz="1050" b="0" i="0">
                <a:solidFill>
                  <a:srgbClr val="101A33"/>
                </a:solidFill>
                <a:latin typeface="Calibri"/>
              </a:rPr>
              <a:t>Expert in RAG, agentic QA, human-centred AI evaluation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8004" y="5486400"/>
            <a:ext cx="3210458" cy="27432"/>
          </a:xfrm>
          <a:prstGeom prst="rect">
            <a:avLst/>
          </a:prstGeom>
          <a:solidFill>
            <a:srgbClr val="29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8004" y="5559552"/>
            <a:ext cx="321045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E06B20"/>
                </a:solidFill>
                <a:latin typeface="Calibri"/>
              </a:rPr>
              <a:t>PRIOR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8004" y="5788152"/>
            <a:ext cx="321045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1428"/>
                </a:solidFill>
                <a:latin typeface="Calibri"/>
              </a:rPr>
              <a:t>BITS Pilani · IIIT-B · VNRVJIET · GRIET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199631"/>
            <a:ext cx="11094415" cy="384048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6199631"/>
            <a:ext cx="1063721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FF8C42"/>
                </a:solidFill>
                <a:latin typeface="Calibri"/>
              </a:rPr>
              <a:t>EXTENDED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6199631"/>
            <a:ext cx="926561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F1E8"/>
                </a:solidFill>
                <a:latin typeface="Calibri"/>
              </a:rPr>
              <a:t>2 ML engineers · 2 backend engineers · 1 research intern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Grant ask · ₹ 1 crore ·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₹ 1 CR · THREE MILESTONES · TWELVE MONTHS · FIVE PILOTS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ELEVATE NxT minimum 40% R&amp;D allocation respected. Every line tied to a deliverable.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68580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MILESTONE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79"/>
            <a:ext cx="6858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97479"/>
            <a:ext cx="73152" cy="10972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M1  ·  Month 0-4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7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428"/>
                </a:solidFill>
                <a:latin typeface="Calibri"/>
              </a:rPr>
              <a:t>Ambient + Overlay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47287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Cmd+Shift+K Spotlight-for-AI overlay; finalise inbox review UX; harden ambient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81527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081527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TRL 4 →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04487"/>
            <a:ext cx="6858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04487"/>
            <a:ext cx="73152" cy="10972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14215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M2  ·  Month 4-8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88536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428"/>
                </a:solidFill>
                <a:latin typeface="Calibri"/>
              </a:rPr>
              <a:t>Enterprise connectors + 3 pilots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Secure connectors for email, Slack, Google Workspace, Notion. 3 regulated-sector pilots signed.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288536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4288536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TRL 5 → 5+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11496"/>
            <a:ext cx="6858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11496"/>
            <a:ext cx="73152" cy="10972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21224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M3  ·  Month 8-12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95544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1428"/>
                </a:solidFill>
                <a:latin typeface="Calibri"/>
              </a:rPr>
              <a:t>Benchmarks + research + 5 LOIs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61304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01A33"/>
                </a:solidFill>
                <a:latin typeface="Calibri"/>
              </a:rPr>
              <a:t>Formal NDCG / precision@k benchmarking. Research paper submitted. 5 enterprise LOIs converted.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5495544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5495544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TRL 5+ →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331720"/>
            <a:ext cx="3870655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06B20"/>
                </a:solidFill>
                <a:latin typeface="Calibri"/>
              </a:rPr>
              <a:t>BUDGET ALLOCATION · ₹ 100 LAKH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697479"/>
            <a:ext cx="3870655" cy="342900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2834639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FF8C42"/>
                </a:solidFill>
                <a:latin typeface="Calibri"/>
              </a:rPr>
              <a:t>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834639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200">
                <a:solidFill>
                  <a:srgbClr val="FF8C42"/>
                </a:solidFill>
                <a:latin typeface="Calibri"/>
              </a:rPr>
              <a:t>%   ·   ₹L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108960"/>
            <a:ext cx="3322015" cy="18288"/>
          </a:xfrm>
          <a:prstGeom prst="rect">
            <a:avLst/>
          </a:prstGeom>
          <a:solidFill>
            <a:srgbClr val="293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320040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R&amp;D / 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200400"/>
            <a:ext cx="249905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40%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20040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₹ 40 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56616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Salaries (3 engineers)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566160"/>
            <a:ext cx="249905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6616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₹ 20 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93192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Security audit &amp; UI/UX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931920"/>
            <a:ext cx="249905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93192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₹ 15 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29768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Marketing &amp; pilots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297680"/>
            <a:ext cx="249905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29768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₹ 10 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66344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Admin &amp; infra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663440"/>
            <a:ext cx="249905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10%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66344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₹ 10 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502920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Research &amp; contingency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029200"/>
            <a:ext cx="249905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E2D0"/>
                </a:solidFill>
                <a:latin typeface="Calibri"/>
              </a:rPr>
              <a:t>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5029200"/>
            <a:ext cx="3322015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8C42"/>
                </a:solidFill>
                <a:latin typeface="Calibri"/>
              </a:rPr>
              <a:t>₹ 5 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5376672"/>
            <a:ext cx="3322015" cy="2743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5468112"/>
            <a:ext cx="3322015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5468112"/>
            <a:ext cx="3322015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F8C42"/>
                </a:solidFill>
                <a:latin typeface="Calibri"/>
              </a:rPr>
              <a:t>₹ 1 Cr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5B6782"/>
                </a:solidFill>
                <a:latin typeface="Calibri"/>
              </a:rPr>
              <a:t>DataFrontier   ·   UPII Sovereign Memory   ·   Closing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822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782"/>
                </a:solidFill>
                <a:latin typeface="Calibr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95A8"/>
                </a:solidFill>
                <a:latin typeface="Calibri"/>
              </a:rPr>
              <a:t>Karnataka Startup Grand Finale  ·  June 2026  ·  ELNXT20260000020  ·  AI-ML / Health / Bio / Life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E06B20"/>
                </a:solidFill>
                <a:latin typeface="Calibri"/>
              </a:rPr>
              <a:t>THREE REASONS THE JURY SHOULD FUND THIS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A1428"/>
                </a:solidFill>
                <a:latin typeface="Calibri"/>
              </a:rPr>
              <a:t>Timing, foundation, and founder-market fit converge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57621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576218" cy="4114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31720"/>
            <a:ext cx="3027578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0A1428"/>
                </a:solidFill>
                <a:latin typeface="Calibri"/>
              </a:rPr>
              <a:t>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11901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A1428"/>
                </a:solidFill>
                <a:latin typeface="Calibri"/>
              </a:rPr>
              <a:t>The DPDP enforcement window is opening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3119018" cy="2057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01A33"/>
                </a:solidFill>
                <a:latin typeface="Calibri"/>
              </a:rPr>
              <a:t>India's DPDP Act 2023 is moving from passage to enforcement in 2026. Every regulated enterprise is being forced to re-architect its data + AI stack. The next 12 months decide who owns the sovereign-AI-memory category.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2331720"/>
            <a:ext cx="3576218" cy="3794760"/>
          </a:xfrm>
          <a:prstGeom prst="roundRect">
            <a:avLst>
              <a:gd name="adj" fmla="val 8000"/>
            </a:avLst>
          </a:prstGeom>
          <a:solidFill>
            <a:srgbClr val="0A1428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2331720"/>
            <a:ext cx="3576218" cy="4114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2058" y="2331720"/>
            <a:ext cx="3027578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0A1428"/>
                </a:solidFill>
                <a:latin typeface="Calibri"/>
              </a:rP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880360"/>
            <a:ext cx="311901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v0.5 is shipping. v1.0 is in production.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3886200"/>
            <a:ext cx="3119018" cy="2057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AE2D0"/>
                </a:solidFill>
                <a:latin typeface="Calibri"/>
              </a:rPr>
              <a:t>This is not a slide deck. UPII has 18 test suites, a CI/CD pipeline, cross-platform Mac + Windows release artifacts, a working overlay daemon, and is running daily at Ambee. The R&amp;D risk is already retired.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331720"/>
            <a:ext cx="357621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A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2331720"/>
            <a:ext cx="3576218" cy="41148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1156" y="2331720"/>
            <a:ext cx="3027578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0A1428"/>
                </a:solidFill>
                <a:latin typeface="Calibri"/>
              </a:rPr>
              <a:t>FOUNDER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880360"/>
            <a:ext cx="311901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A1428"/>
                </a:solidFill>
                <a:latin typeface="Calibri"/>
              </a:rPr>
              <a:t>Built by the CTO who needed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3886200"/>
            <a:ext cx="3119018" cy="2057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01A33"/>
                </a:solidFill>
                <a:latin typeface="Calibri"/>
              </a:rPr>
              <a:t>Madhusudhan is simultaneously the architect and a user of UPII — from the CTO desk of an environmental-intelligence company that handles classified satellite tasking. Zero-latency feedback loop.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400">
                <a:solidFill>
                  <a:srgbClr val="FF8C42"/>
                </a:solidFill>
                <a:latin typeface="Calibri"/>
              </a:rPr>
              <a:t>OUR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28655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₹ 1 crore to build the missing memory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72865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for India's sovereign AI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72865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 spc="400">
                <a:solidFill>
                  <a:srgbClr val="FF8C42"/>
                </a:solidFill>
                <a:latin typeface="Calibri"/>
              </a:rPr>
              <a:t>Private  ·  On-device  ·  Auditable  ·  Reversible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1447" y="4526280"/>
            <a:ext cx="1828800" cy="2743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72865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 spc="60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107286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AE2D0"/>
                </a:solidFill>
                <a:latin typeface="Calibri"/>
              </a:rPr>
              <a:t>Veenadhari Pola  ·  Founder &amp; CEO  ·  veena@datafrontier.co  ·  +91 98665 57800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107286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EAE2D0"/>
                </a:solidFill>
                <a:latin typeface="Calibri"/>
              </a:rPr>
              <a:t>Madhusudhan Anand  ·  Co-Founder &amp; CTO  ·  maddy@datafrontier.co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8B95A8"/>
                </a:solidFill>
                <a:latin typeface="Calibri"/>
              </a:rPr>
              <a:t>DataFrontier Innovation Pvt Ltd  ·  Bengaluru  ·  datafrontier.co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
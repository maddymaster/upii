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12060"/>
                </a:solidFill>
                <a:latin typeface="Arial"/>
              </a:defRPr>
            </a:pPr>
            <a:r>
              <a:rPr sz="1100" b="0" i="0" u="none" strike="noStrike">
                <a:solidFill>
                  <a:srgbClr val="012060"/>
                </a:solidFill>
                <a:latin typeface="Arial"/>
              </a:rPr>
              <a:t>Revenue Projection (Rs Lakhs)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(Rs Lakhs)</c:v>
                </c:pt>
              </c:strCache>
            </c:strRef>
          </c:tx>
          <c:spPr>
            <a:solidFill>
              <a:srgbClr val="0071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1206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71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E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1206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40</c:v>
                </c:pt>
                <c:pt idx="1">
                  <c:v>350</c:v>
                </c:pt>
                <c:pt idx="2">
                  <c:v>1050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1206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 Allocation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12060"/>
              </a:solidFill>
              <a:effectLst/>
            </c:spPr>
          </c:dPt>
          <c:dPt>
            <c:idx val="1"/>
            <c:bubble3D val="0"/>
            <c:spPr>
              <a:solidFill>
                <a:srgbClr val="0071C1"/>
              </a:solidFill>
              <a:effectLst/>
            </c:spPr>
          </c:dPt>
          <c:dPt>
            <c:idx val="2"/>
            <c:bubble3D val="0"/>
            <c:spPr>
              <a:solidFill>
                <a:srgbClr val="00A8E8"/>
              </a:solidFill>
              <a:effectLst/>
            </c:spPr>
          </c:dPt>
          <c:dPt>
            <c:idx val="3"/>
            <c:bubble3D val="0"/>
            <c:spPr>
              <a:solidFill>
                <a:srgbClr val="00B050"/>
              </a:solidFill>
              <a:effectLst/>
            </c:spPr>
          </c:dPt>
          <c:dPt>
            <c:idx val="4"/>
            <c:bubble3D val="0"/>
            <c:spPr>
              <a:solidFill>
                <a:srgbClr val="E8A020"/>
              </a:solidFill>
              <a:effectLst/>
            </c:spPr>
          </c:dPt>
          <c:dPt>
            <c:idx val="5"/>
            <c:bubble3D val="0"/>
            <c:spPr>
              <a:solidFill>
                <a:srgbClr val="8BA0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R&amp;D / Product Dev (40%)</c:v>
                </c:pt>
                <c:pt idx="1">
                  <c:v>Salaries (20%)</c:v>
                </c:pt>
                <c:pt idx="2">
                  <c:v>Outsourcing (15%)</c:v>
                </c:pt>
                <c:pt idx="3">
                  <c:v>Marketing (10%)</c:v>
                </c:pt>
                <c:pt idx="4">
                  <c:v>Admin &amp; Infra (10%)</c:v>
                </c:pt>
                <c:pt idx="5">
                  <c:v>Contingency (5%)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11848"/>
          </a:solidFill>
          <a:ln w="12700">
            <a:solidFill>
              <a:srgbClr val="0118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Memory Engine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754880" cy="0"/>
          </a:xfrm>
          <a:prstGeom prst="line">
            <a:avLst/>
          </a:prstGeom>
          <a:noFill/>
          <a:ln w="19050">
            <a:solidFill>
              <a:srgbClr val="0071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Private Limited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Veenadhari Pola, Founder &amp; CEO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27248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Madhusudhan Anand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0972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Deeptech — Stage 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35040" y="20116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ELNXT20260000020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7432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/ Health / Bio / Life Sciences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035040" y="34290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Pitch: 3:40 PM | May 11, 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datafrontier.co  |  veena@datafrontier.co  |  +91 9866557800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deeptech startup building foundational AI infrastructure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5029200" cy="2834640"/>
          </a:xfrm>
          <a:prstGeom prst="rect">
            <a:avLst/>
          </a:prstGeom>
          <a:solidFill>
            <a:srgbClr val="EBF3FB"/>
          </a:solidFill>
          <a:ln w="1270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64008" cy="283464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4264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64792" y="14264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Private Limited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17922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64792" y="17922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datafrontier.co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2157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64792" y="215798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Bangalore, Karnataka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" y="252374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64792" y="252374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veena@datafrontier.co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" y="28895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64792" y="28895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+91 9866557800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0352" y="32552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764792" y="32552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02 / 2024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30352" y="3621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64792" y="362102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 MCA filing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335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Directors / Partners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719072"/>
          <a:ext cx="3200400" cy="77724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548640"/>
              </a:tblGrid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2060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Madhusudhan Anand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07274579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Veenadhari Pola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10503140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577840" y="2660904"/>
            <a:ext cx="1463040" cy="777240"/>
          </a:xfrm>
          <a:prstGeom prst="rect">
            <a:avLst/>
          </a:prstGeom>
          <a:solidFill>
            <a:srgbClr val="EBF3FB"/>
          </a:solidFill>
          <a:ln w="1524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577840" y="2660904"/>
            <a:ext cx="64008" cy="77724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69280" y="2706624"/>
            <a:ext cx="132588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5669280" y="3111703"/>
            <a:ext cx="132588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7132320" y="2660904"/>
            <a:ext cx="1645920" cy="777240"/>
          </a:xfrm>
          <a:prstGeom prst="rect">
            <a:avLst/>
          </a:prstGeom>
          <a:solidFill>
            <a:srgbClr val="EBF3FB"/>
          </a:solidFill>
          <a:ln w="15240">
            <a:solidFill>
              <a:srgbClr val="006B6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7132320" y="2660904"/>
            <a:ext cx="64008" cy="77724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223760" y="2706624"/>
            <a:ext cx="1508760" cy="4274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</a:t>
            </a:r>
            <a:endParaRPr lang="en-US" sz="2600" dirty="0"/>
          </a:p>
        </p:txBody>
      </p:sp>
      <p:sp>
        <p:nvSpPr>
          <p:cNvPr id="37" name="Text 34"/>
          <p:cNvSpPr/>
          <p:nvPr/>
        </p:nvSpPr>
        <p:spPr>
          <a:xfrm>
            <a:off x="7223760" y="3111703"/>
            <a:ext cx="150876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Level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577840" y="3529584"/>
            <a:ext cx="1463040" cy="594360"/>
          </a:xfrm>
          <a:prstGeom prst="rect">
            <a:avLst/>
          </a:prstGeom>
          <a:solidFill>
            <a:srgbClr val="EBF3FB"/>
          </a:solidFill>
          <a:ln w="15240">
            <a:solidFill>
              <a:srgbClr val="00B0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577840" y="3529584"/>
            <a:ext cx="64008" cy="594360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669280" y="3575304"/>
            <a:ext cx="132588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5669280" y="3874313"/>
            <a:ext cx="132588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&amp; Live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7132320" y="3529584"/>
            <a:ext cx="1645920" cy="594360"/>
          </a:xfrm>
          <a:prstGeom prst="rect">
            <a:avLst/>
          </a:prstGeom>
          <a:solidFill>
            <a:srgbClr val="EBF3FB"/>
          </a:solidFill>
          <a:ln w="1524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7132320" y="3529584"/>
            <a:ext cx="64008" cy="5943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223760" y="3575304"/>
            <a:ext cx="1508760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600" dirty="0"/>
          </a:p>
        </p:txBody>
      </p:sp>
      <p:sp>
        <p:nvSpPr>
          <p:cNvPr id="45" name="Text 42"/>
          <p:cNvSpPr/>
          <p:nvPr/>
        </p:nvSpPr>
        <p:spPr>
          <a:xfrm>
            <a:off x="7223760" y="3874313"/>
            <a:ext cx="1508760" cy="225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Memory Crisis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system today has a critical blind spot — it cannot remember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8385048" cy="685800"/>
          </a:xfrm>
          <a:prstGeom prst="rect">
            <a:avLst/>
          </a:prstGeom>
          <a:solidFill>
            <a:srgbClr val="FFF3E0"/>
          </a:solidFill>
          <a:ln w="25400">
            <a:solidFill>
              <a:srgbClr val="E8A02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64008" cy="6858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389888"/>
            <a:ext cx="81747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an AI truly useful, enterprises face a dangerous trade-off: upload your confidential data to the cloud — or settle for generic, amnesiac AI. For regulated industries, neither option works.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11480" y="2176272"/>
            <a:ext cx="2743200" cy="2103120"/>
          </a:xfrm>
          <a:prstGeom prst="rect">
            <a:avLst/>
          </a:prstGeom>
          <a:solidFill>
            <a:srgbClr val="EBF3FB"/>
          </a:solidFill>
          <a:ln w="19050">
            <a:solidFill>
              <a:srgbClr val="C0392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176272"/>
            <a:ext cx="2743200" cy="32918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Amnesiac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" y="2569464"/>
            <a:ext cx="25420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forget everything between sessions. No persistent memory means no institutional knowledge.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64408" y="2176272"/>
            <a:ext cx="2743200" cy="2103120"/>
          </a:xfrm>
          <a:prstGeom prst="rect">
            <a:avLst/>
          </a:prstGeom>
          <a:solidFill>
            <a:srgbClr val="EBF3FB"/>
          </a:solidFill>
          <a:ln w="19050">
            <a:solidFill>
              <a:srgbClr val="E8A02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64408" y="2176272"/>
            <a:ext cx="2743200" cy="32918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55848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vs Intelligence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74136" y="2569464"/>
            <a:ext cx="25420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AI requires uploading sensitive data. Regulated sectors — healthcare, BFSI, govt — simply cannot comply.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17336" y="2176272"/>
            <a:ext cx="2743200" cy="2103120"/>
          </a:xfrm>
          <a:prstGeom prst="rect">
            <a:avLst/>
          </a:prstGeom>
          <a:solidFill>
            <a:srgbClr val="EBF3FB"/>
          </a:solidFill>
          <a:ln w="1905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17336" y="2176272"/>
            <a:ext cx="2743200" cy="329184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08776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Auditability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27064" y="2569464"/>
            <a:ext cx="25420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decisions are unexplainable. No audit trail, no reversibility — blocking adoption in high-stakes domains.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Innovation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local-first, auditable, reversible memory substrate for AI systems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2743200" cy="65836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Privacy Risk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never leaves the device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64408" y="1335024"/>
            <a:ext cx="2743200" cy="658368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55848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Latency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55848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&lt;300ms retrieval on-device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17336" y="1335024"/>
            <a:ext cx="2743200" cy="65836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08776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Lock-In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16824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any LLM backend</a:t>
            </a:r>
            <a:endParaRPr lang="en-US" sz="900" dirty="0"/>
          </a:p>
        </p:txBody>
      </p:sp>
      <p:pic>
        <p:nvPicPr>
          <p:cNvPr id="21" name="Image 0" descr="/sessions/vibrant-practical-turing/mnt/outputs/terminal_shots/terminal_ask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112264"/>
            <a:ext cx="5120640" cy="242316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5376672" y="2112264"/>
            <a:ext cx="3429000" cy="2423160"/>
          </a:xfrm>
          <a:prstGeom prst="rect">
            <a:avLst/>
          </a:prstGeom>
          <a:solidFill>
            <a:srgbClr val="EBF3FB"/>
          </a:solidFill>
          <a:ln w="1270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376672" y="2112264"/>
            <a:ext cx="64008" cy="24231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68112" y="21579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468112" y="2478024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memory approval — you control what AI remembers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— every memory access is logged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recall — AI explains WHY it retrieved context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entity-aware — remembers WHO and WHEN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Reversible — wipe any memory without data loss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Readiness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Readiness Level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concept to working prototype — on track for enterprise pilot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" y="1335024"/>
            <a:ext cx="1567282" cy="65836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1353312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1-3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" y="1664208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143354" y="1335024"/>
            <a:ext cx="1567282" cy="658368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3354" y="1353312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43354" y="1664208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43354" y="2048256"/>
            <a:ext cx="15672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HERE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20363" y="1335024"/>
            <a:ext cx="1567282" cy="6583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0363" y="1353312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20363" y="1664208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497373" y="1335024"/>
            <a:ext cx="1567282" cy="6583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7373" y="1353312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97373" y="1664208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174382" y="1335024"/>
            <a:ext cx="1567282" cy="65836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4382" y="1353312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7-9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4382" y="1664208"/>
            <a:ext cx="1567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pic>
        <p:nvPicPr>
          <p:cNvPr id="28" name="Image 0" descr="/sessions/vibrant-practical-turing/mnt/outputs/terminal_shots/terminal_doc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2414016"/>
            <a:ext cx="5029200" cy="212140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285232" y="2414016"/>
            <a:ext cx="3520440" cy="2121408"/>
          </a:xfrm>
          <a:prstGeom prst="rect">
            <a:avLst/>
          </a:prstGeom>
          <a:solidFill>
            <a:srgbClr val="EBF3FB"/>
          </a:solidFill>
          <a:ln w="1270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285232" y="2414016"/>
            <a:ext cx="64008" cy="2121408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94960" y="24505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394960" y="274320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ingestion with explicit approval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394960" y="299008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+ entity-based retrieval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5394960" y="3236976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ranking with boost reasons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394960" y="3483864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LanceDB vector store + SQLite hybrid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394960" y="3730752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automated test suites passing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394960" y="3977640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5: Pilot deployment (Milestone 1)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394960" y="4224528"/>
            <a:ext cx="3337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</a:t>
            </a:r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6: Multi-tenant enterprise (Milestone 2)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Impact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Impact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India's sovereign AI stack — private, auditable, accessible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274320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2743200" cy="38404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Sovereignty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" y="1810512"/>
            <a:ext cx="25420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enterprise data stays on Indian soil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compliant by design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foreign cloud dependency for AI intelligence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for BFSI, healthcare, defence, govt bodies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335024"/>
            <a:ext cx="274320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35024"/>
            <a:ext cx="2743200" cy="384048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Democratising AI Access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74136" y="1810512"/>
            <a:ext cx="25420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CPU — no GPU required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40,000 laptop can run UPII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and govt offices can use AI privately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 barrier for enterprise AI adoption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1335024"/>
            <a:ext cx="274320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06B6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335024"/>
            <a:ext cx="2743200" cy="38404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27064" y="1810512"/>
            <a:ext cx="254203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9: Industry, Innovation &amp; Infrastructure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16: Peace, Justice, Strong Institutions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hrs/week saved per knowledge worker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risk reduction in high-stakes decisions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— Size, Background &amp; Capability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 members with deep AI/ML, data infrastructure, and enterprise software expertise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3840480" cy="2880360"/>
          </a:xfrm>
          <a:prstGeom prst="rect">
            <a:avLst/>
          </a:prstGeom>
          <a:solidFill>
            <a:srgbClr val="EBF3FB"/>
          </a:solidFill>
          <a:ln w="1270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64008" cy="28803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14081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Strengths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1737360"/>
            <a:ext cx="36118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engineering — RAG pipelines, embeddings, vector stores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systems design — local-first, air-gapped architectures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infrastructure — large-scale ingestion and retrieval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software — production-grade CLI, testing, CI/CD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expertise — environmental intelligence, satellite data</a:t>
            </a:r>
            <a:endParaRPr lang="en-US" sz="1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experience at: HPE, Dell, HackerEarth, Avaya, Ambee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97680" y="1335024"/>
            <a:ext cx="4480560" cy="2880360"/>
          </a:xfrm>
          <a:prstGeom prst="rect">
            <a:avLst/>
          </a:prstGeom>
          <a:solidFill>
            <a:srgbClr val="EBF3FB"/>
          </a:solidFill>
          <a:ln w="1270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335024"/>
            <a:ext cx="64008" cy="288036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07408" y="1408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Composition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17373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9632" y="1737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Veenadhari Pola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34840" y="197510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product, business development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22311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Advisor / CTO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199632" y="22311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Madhusudhan Anand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434840" y="2468880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 architecture, data systems, research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34840" y="27249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Engineers (2)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99632" y="27249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34840" y="2962656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pipelines, retrieval systems, testing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32186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Engineers (2)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99632" y="321868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434840" y="3456432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Storage, CLI, API integrations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34840" y="37124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/ Research (1)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99632" y="371246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team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434840" y="3950208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Benchmarking, documentation, QA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practitioners who faced the problem themselves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425196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4251960" cy="438912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6245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Madhusudhan Anand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157276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— AI Architecture &amp; Strategy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18379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Edu: MS Data Science, LJMU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" y="2103120"/>
            <a:ext cx="4041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at Ambee (environmental intelligence, satellite data)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HackerEarth, Dell, Hewlett Packard Enterprise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on distributed data systems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holder in data indexing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AI pipelines processing NASA &amp; ESA satellite data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'Built UPII because I needed it — cannot paste confidential data into ChatGPT'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335024"/>
            <a:ext cx="425196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335024"/>
            <a:ext cx="4251960" cy="43891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62456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Veenadhari Pola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572768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C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 — Product &amp; Business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37760" y="1837944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Edu: Computer Applications, Symbiosis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56048" y="2103120"/>
            <a:ext cx="404164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17+ years in enterprise technology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Prev: Hewlett Packard Enterprise, Avaya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expertise in data, MIS, and operational systems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cross-functional teams in regulated enterprise environments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UPII to market with enterprise sales experience</a:t>
            </a:r>
            <a:endParaRPr lang="en-US" sz="9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Driving product vision: private, auditable AI for India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Landscape &amp; Competitive Position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the fastest-growing segment of enterprise AI infrastructure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5029200" cy="2880360"/>
          </a:xfrm>
          <a:prstGeom prst="rect">
            <a:avLst/>
          </a:prstGeom>
          <a:solidFill>
            <a:srgbClr val="E8F0FE"/>
          </a:solidFill>
          <a:ln w="1905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13898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" y="16642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AI Infrastructure  $200B+ by 2028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58952" y="2020824"/>
            <a:ext cx="4206240" cy="1920240"/>
          </a:xfrm>
          <a:prstGeom prst="rect">
            <a:avLst/>
          </a:prstGeom>
          <a:solidFill>
            <a:srgbClr val="D0E4F7"/>
          </a:solidFill>
          <a:ln w="19050">
            <a:solidFill>
              <a:srgbClr val="0071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20848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0392" y="23408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/ Explainable AI Systems  $18B by 2027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124712" y="2706624"/>
            <a:ext cx="3474720" cy="1143000"/>
          </a:xfrm>
          <a:prstGeom prst="rect">
            <a:avLst/>
          </a:prstGeom>
          <a:solidFill>
            <a:srgbClr val="00A8E8"/>
          </a:solidFill>
          <a:ln w="1905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27614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16152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Regulated Enterprise AI  Rs 500 Cr addressable Y1-3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376672" y="1335024"/>
            <a:ext cx="3429000" cy="2880360"/>
          </a:xfrm>
          <a:prstGeom prst="rect">
            <a:avLst/>
          </a:prstGeom>
          <a:solidFill>
            <a:srgbClr val="EBF3FB"/>
          </a:solidFill>
          <a:ln w="1270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76672" y="1335024"/>
            <a:ext cx="64008" cy="288036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68112" y="1389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Gap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17373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Mem.ai / Notion AI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784848" y="17373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 — data leaves your machine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49824" y="1993392"/>
            <a:ext cx="32735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21945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84848" y="21945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Microsoft 365 cloud ecosystem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9824" y="2450592"/>
            <a:ext cx="32735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651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LlamaIndex / LangChain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84848" y="26517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framework — not a product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49824" y="2907792"/>
            <a:ext cx="32735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0" y="31089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DBs (Pinecone)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84848" y="31089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only — no governance layer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49824" y="3364992"/>
            <a:ext cx="3273552" cy="0"/>
          </a:xfrm>
          <a:prstGeom prst="line">
            <a:avLst/>
          </a:prstGeom>
          <a:noFill/>
          <a:ln w="635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49824" y="3538728"/>
            <a:ext cx="3273552" cy="43891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0" y="3566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(our solution)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84848" y="356616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+ governed + explainable + auditable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&amp; Go-To-Market Strategy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enterprise-first — selling to regulated industries that cannot use cloud AI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274320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2743200" cy="38404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" y="1792224"/>
            <a:ext cx="2542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 — banks, insurance, NBFCs (DPDP compliance)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systems, hospital networks, pharma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agencies and defence PSUs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AI-first startups building regulated applications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64408" y="1335024"/>
            <a:ext cx="274320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64408" y="1335024"/>
            <a:ext cx="2743200" cy="384048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74136" y="1792224"/>
            <a:ext cx="2542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on-prem, private, explainable AI memory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Compliance-ready — no data egress, full audit logs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Drop-in SDK — integrates with any existing LLM stack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AI decision risk in regulated environments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17336" y="1335024"/>
            <a:ext cx="2743200" cy="2880360"/>
          </a:xfrm>
          <a:prstGeom prst="rect">
            <a:avLst/>
          </a:prstGeom>
          <a:solidFill>
            <a:srgbClr val="EBF3FB"/>
          </a:solidFill>
          <a:ln w="19050">
            <a:solidFill>
              <a:srgbClr val="006B6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17336" y="1335024"/>
            <a:ext cx="2743200" cy="384048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08776" y="13716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Channels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27064" y="1792224"/>
            <a:ext cx="2542032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Ambee network — 100+ enterprise clients (warm intro)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NASSCOM member co-selling partnerships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core — developer adoption funnel</a:t>
            </a:r>
            <a:endParaRPr lang="en-US" sz="9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integrators serving BFSI and healthcare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UPII Becomes Sticky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risk infrastructure — not replaceable SaaS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4572000" cy="868680"/>
          </a:xfrm>
          <a:prstGeom prst="rect">
            <a:avLst/>
          </a:prstGeom>
          <a:solidFill>
            <a:srgbClr val="EBF3FB"/>
          </a:solidFill>
          <a:ln w="1905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1335024"/>
            <a:ext cx="64008" cy="86868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389888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Gravity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16459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enterprises ingest more documents, meetings, and decisions into UPII, switching costs grow exponentially. Memory IS the moat.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313432"/>
            <a:ext cx="4572000" cy="868680"/>
          </a:xfrm>
          <a:prstGeom prst="rect">
            <a:avLst/>
          </a:prstGeom>
          <a:solidFill>
            <a:srgbClr val="EBF3FB"/>
          </a:solidFill>
          <a:ln w="1905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313432"/>
            <a:ext cx="64008" cy="86868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6829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Lock-In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62432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teams rely on UPII's audit logs. Replacing the memory layer means losing audit trail continuity — a compliance risk.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291840"/>
            <a:ext cx="4572000" cy="868680"/>
          </a:xfrm>
          <a:prstGeom prst="rect">
            <a:avLst/>
          </a:prstGeom>
          <a:solidFill>
            <a:srgbClr val="EBF3FB"/>
          </a:solidFill>
          <a:ln w="19050">
            <a:solidFill>
              <a:srgbClr val="006B6B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291840"/>
            <a:ext cx="64008" cy="868680"/>
          </a:xfrm>
          <a:prstGeom prst="rect">
            <a:avLst/>
          </a:prstGeom>
          <a:solidFill>
            <a:srgbClr val="006B6B"/>
          </a:solidFill>
          <a:ln w="12700">
            <a:solidFill>
              <a:srgbClr val="00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4670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Year Contracts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0273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Multi-year enterprise contracts with expansion clauses. Every new use-case and department is an expansion opportunity.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1335024"/>
            <a:ext cx="3840480" cy="288036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4447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LTV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120640" y="1810512"/>
            <a:ext cx="3474720" cy="0"/>
          </a:xfrm>
          <a:prstGeom prst="line">
            <a:avLst/>
          </a:prstGeom>
          <a:noFill/>
          <a:ln w="19050">
            <a:solidFill>
              <a:srgbClr val="0071C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901952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7-10 Cr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5029200" y="259689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customer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2907792"/>
            <a:ext cx="3474720" cy="0"/>
          </a:xfrm>
          <a:prstGeom prst="line">
            <a:avLst/>
          </a:prstGeom>
          <a:noFill/>
          <a:ln w="19050">
            <a:solidFill>
              <a:srgbClr val="0071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0266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High switching cost once memory embedded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3319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Expansion via depts &amp; use-cases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Multi-year contract structure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39044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Professional services on top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streams, high LTV, sticky infrastructure positioning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335024"/>
            <a:ext cx="5669280" cy="34747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371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1719072"/>
            <a:ext cx="5669280" cy="512064"/>
          </a:xfrm>
          <a:prstGeom prst="rect">
            <a:avLst/>
          </a:prstGeom>
          <a:solidFill>
            <a:srgbClr val="F4F7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755648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License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1755648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10-50 L / year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175564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Air-gapped on-prem deployment, SLA, audit logs, SSO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2249424"/>
            <a:ext cx="5669280" cy="512064"/>
          </a:xfrm>
          <a:prstGeom prst="rect">
            <a:avLst/>
          </a:prstGeom>
          <a:solidFill>
            <a:srgbClr val="EBF3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2860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/ API Tier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011680" y="2286000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499 / month per dev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83280" y="22860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AI-first startups integrating UPII into their products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2779776"/>
            <a:ext cx="5669280" cy="512064"/>
          </a:xfrm>
          <a:prstGeom prst="rect">
            <a:avLst/>
          </a:prstGeom>
          <a:solidFill>
            <a:srgbClr val="F4F7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81635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Core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011680" y="2816352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(community)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83280" y="281635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 public — builds trust, developer adoption funnel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11480" y="3310128"/>
            <a:ext cx="5669280" cy="512064"/>
          </a:xfrm>
          <a:prstGeom prst="rect">
            <a:avLst/>
          </a:prstGeom>
          <a:solidFill>
            <a:srgbClr val="EBF3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346704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011680" y="3346704"/>
            <a:ext cx="1280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83280" y="334670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connectors, integration, training, compliance support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53328" y="1335024"/>
            <a:ext cx="2743200" cy="288036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44768" y="14264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Customers Pay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6208" y="1746504"/>
            <a:ext cx="2377440" cy="0"/>
          </a:xfrm>
          <a:prstGeom prst="line">
            <a:avLst/>
          </a:prstGeom>
          <a:noFill/>
          <a:ln w="12700">
            <a:solidFill>
              <a:srgbClr val="0071C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186537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Prevents AI compliance failures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44768" y="22860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Audit-ready for regulators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44768" y="270662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Reduces organisational AI risk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127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Not discretionary — it's risk infrastructure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44768" y="3547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D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ROI: 1 compliance breach &gt; 5x UPII cost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Projections (3-Year)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ramp targeting 5-7 enterprise customers; expansion via accounts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11480" y="1335024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376672" y="1335024"/>
            <a:ext cx="3429000" cy="2743200"/>
          </a:xfrm>
          <a:prstGeom prst="rect">
            <a:avLst/>
          </a:prstGeom>
          <a:solidFill>
            <a:srgbClr val="EBF3FB"/>
          </a:solidFill>
          <a:ln w="1270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376672" y="1335024"/>
            <a:ext cx="64008" cy="27432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68112" y="13898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68112" y="1737360"/>
            <a:ext cx="3246120" cy="640080"/>
          </a:xfrm>
          <a:prstGeom prst="rect">
            <a:avLst/>
          </a:prstGeom>
          <a:solidFill>
            <a:srgbClr val="0071C1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04688" y="17739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172200" y="1773936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40 L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504688" y="20848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pilot customers at Rs 10-15L/yr; grant period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468112" y="2450592"/>
            <a:ext cx="3246120" cy="640080"/>
          </a:xfrm>
          <a:prstGeom prst="rect">
            <a:avLst/>
          </a:prstGeom>
          <a:solidFill>
            <a:srgbClr val="006B6B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04688" y="2487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2487168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3.5 Cr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504688" y="279806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enterprises; account expansion + SDK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468112" y="3163824"/>
            <a:ext cx="3246120" cy="64008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04688" y="320040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3200400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10+ Cr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04688" y="351129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C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enterprises; full product suite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Milestones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Two-tranche delivery aligned with ELEVATE NxT grant structure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1655064"/>
            <a:ext cx="8385048" cy="9144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1490472"/>
            <a:ext cx="411480" cy="411480"/>
          </a:xfrm>
          <a:prstGeom prst="ellipse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0-6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70832" y="1490472"/>
            <a:ext cx="411480" cy="411480"/>
          </a:xfrm>
          <a:prstGeom prst="ellipse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749040" y="19751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6-12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65008" y="1490472"/>
            <a:ext cx="411480" cy="411480"/>
          </a:xfrm>
          <a:prstGeom prst="ellipse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65008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99248" y="19751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Ready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2295144"/>
            <a:ext cx="4251960" cy="2240280"/>
          </a:xfrm>
          <a:prstGeom prst="rect">
            <a:avLst/>
          </a:prstGeom>
          <a:solidFill>
            <a:srgbClr val="EBF3FB"/>
          </a:solidFill>
          <a:ln w="19050">
            <a:solidFill>
              <a:srgbClr val="00B050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2295144"/>
            <a:ext cx="4251960" cy="347472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3225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(0-6 months)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9496" y="2688336"/>
            <a:ext cx="40233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4 to TRL 5 transition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memory (file watcher, inbox review)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UI — Cmd+Shift+K instant search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enterprise pilot deployments signed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governance hardening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connectors (email, Slack, Google Workspace)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2295144"/>
            <a:ext cx="4251960" cy="2240280"/>
          </a:xfrm>
          <a:prstGeom prst="rect">
            <a:avLst/>
          </a:prstGeom>
          <a:solidFill>
            <a:srgbClr val="EBF3FB"/>
          </a:solidFill>
          <a:ln w="19050">
            <a:solidFill>
              <a:srgbClr val="0071C1"/>
            </a:solidFill>
            <a:prstDash val="solid"/>
          </a:ln>
          <a:effectLst>
            <a:outerShdw sx="100000" sy="100000" kx="0" ky="0" algn="bl" rotWithShape="0" blurRad="88900" dist="254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295144"/>
            <a:ext cx="4251960" cy="347472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32257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(6-12 months)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74336" y="2688336"/>
            <a:ext cx="40233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TRL 5 to TRL 6 transition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enterprise architecture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benchmarking (NDCG, precision@k)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 publication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launch readiness</a:t>
            </a:r>
            <a:endParaRPr lang="en-US" sz="9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enterprise LOIs converted to contracts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"/>
            <a:ext cx="50292" cy="436626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 Pvt Ltd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UPII — Sovereign Memory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Budget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4841748"/>
            <a:ext cx="9144000" cy="30175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841748"/>
            <a:ext cx="7498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NxT Deeptech — Stage 3  |  ELNXT20260000020  |  DataFrontier Innovation Pvt Ltd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321040" y="4841748"/>
            <a:ext cx="640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585216"/>
            <a:ext cx="8385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Utilization Plan — Rs 100 Lakhs (Max)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1480" y="1005840"/>
            <a:ext cx="8385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structured per ELEVATE NxT guidelines; minimum 40% towards R&amp;D</a:t>
            </a:r>
            <a:endParaRPr lang="en-US" sz="10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11480" y="1335024"/>
          <a:ext cx="43891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4754880" y="1289304"/>
            <a:ext cx="4069080" cy="329184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3075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92240" y="130759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931152" y="13075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1655064"/>
            <a:ext cx="64008" cy="384048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18888" y="1655064"/>
            <a:ext cx="4005072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1673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/ Product Development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46320" y="185623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memory engine, ambient ingestion, overlay UI, vector store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492240" y="172821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931152" y="17282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40 L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54880" y="2075688"/>
            <a:ext cx="64008" cy="384048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18888" y="2075688"/>
            <a:ext cx="4005072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46320" y="209397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846320" y="2276856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ML engineers + 1 backend engineer (12 months)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492240" y="2148840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1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931152" y="214884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20 L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54880" y="2496312"/>
            <a:ext cx="64008" cy="384048"/>
          </a:xfrm>
          <a:prstGeom prst="rect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18888" y="2496312"/>
            <a:ext cx="4005072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46320" y="251460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46320" y="269748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audit, penetration testing, UI/UX design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492240" y="2569464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931152" y="256946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15 L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754880" y="2916936"/>
            <a:ext cx="64008" cy="384048"/>
          </a:xfrm>
          <a:prstGeom prst="rect">
            <a:avLst/>
          </a:prstGeom>
          <a:solidFill>
            <a:srgbClr val="00B050"/>
          </a:solidFill>
          <a:ln w="12700">
            <a:solidFill>
              <a:srgbClr val="00B0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18888" y="2916936"/>
            <a:ext cx="4005072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46320" y="293522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46320" y="31181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pilots, conferences, content, NASSCOM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492240" y="2990088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931152" y="299008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 L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754880" y="3337560"/>
            <a:ext cx="64008" cy="38404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818888" y="3337560"/>
            <a:ext cx="4005072" cy="38404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46320" y="33558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Infrastructure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846320" y="3538728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Office, cloud dev infra, CI/CD, compliance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6492240" y="3410712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6931152" y="34107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 L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4754880" y="3758184"/>
            <a:ext cx="64008" cy="384048"/>
          </a:xfrm>
          <a:prstGeom prst="rect">
            <a:avLst/>
          </a:prstGeom>
          <a:solidFill>
            <a:srgbClr val="8BA0C0"/>
          </a:solidFill>
          <a:ln w="12700">
            <a:solidFill>
              <a:srgbClr val="8BA0C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4818888" y="3758184"/>
            <a:ext cx="4005072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846320" y="377647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1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/ Research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4846320" y="3959352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paper, benchmarking, travel</a:t>
            </a:r>
            <a:endParaRPr lang="en-US" sz="750" dirty="0"/>
          </a:p>
        </p:txBody>
      </p:sp>
      <p:sp>
        <p:nvSpPr>
          <p:cNvPr id="51" name="Text 48"/>
          <p:cNvSpPr/>
          <p:nvPr/>
        </p:nvSpPr>
        <p:spPr>
          <a:xfrm>
            <a:off x="6492240" y="3831336"/>
            <a:ext cx="411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52" name="Text 49"/>
          <p:cNvSpPr/>
          <p:nvPr/>
        </p:nvSpPr>
        <p:spPr>
          <a:xfrm>
            <a:off x="6931152" y="383133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 L</a:t>
            </a:r>
            <a:endParaRPr lang="en-US" sz="1000" dirty="0"/>
          </a:p>
        </p:txBody>
      </p:sp>
      <p:sp>
        <p:nvSpPr>
          <p:cNvPr id="53" name="Shape 50"/>
          <p:cNvSpPr/>
          <p:nvPr/>
        </p:nvSpPr>
        <p:spPr>
          <a:xfrm>
            <a:off x="4754880" y="4178808"/>
            <a:ext cx="4069080" cy="347472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846320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492240" y="42062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931152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100 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12060"/>
          </a:solidFill>
          <a:ln w="12700">
            <a:solidFill>
              <a:srgbClr val="0120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71C1"/>
          </a:solidFill>
          <a:ln w="12700">
            <a:solidFill>
              <a:srgbClr val="0071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11848"/>
          </a:solidFill>
          <a:ln w="12700">
            <a:solidFill>
              <a:srgbClr val="0118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4937760" cy="0"/>
          </a:xfrm>
          <a:prstGeom prst="line">
            <a:avLst/>
          </a:prstGeom>
          <a:noFill/>
          <a:ln w="25400">
            <a:solidFill>
              <a:srgbClr val="0071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14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missing memory layer for India's AI stack — Private. Auditable. Sovereign."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090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Veenadhari Pola  |  veena@datafrontier.co  |  +91 9866557800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datafrontier.co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1097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ELNXT20260000020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6002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AI-ML / Health / Bio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CB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Sciences Panel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3093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DataFrontier Innovation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30936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Bangalore, Karnataka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09360" y="3291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11, 2026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0" y="4407408"/>
            <a:ext cx="9144000" cy="530352"/>
          </a:xfrm>
          <a:prstGeom prst="rect">
            <a:avLst/>
          </a:prstGeom>
          <a:solidFill>
            <a:srgbClr val="00224A"/>
          </a:solidFill>
          <a:ln w="12700">
            <a:solidFill>
              <a:srgbClr val="0022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425696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Depth: 20  |  Technical Foundation: 20  |  Commercialisation: 20  |  Socio-Economic: 20  |  Team: 10  |  Budget Plan: 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UPII — ELEVATE NxT Business Model Deck</dc:title>
  <dc:subject>PptxGenJS Presentation</dc:subject>
  <dc:creator>DataFrontier Innovation Pvt Ltd</dc:creator>
  <cp:lastModifiedBy>DataFrontier Innovation Pvt Ltd</cp:lastModifiedBy>
  <cp:revision>1</cp:revision>
  <dcterms:created xsi:type="dcterms:W3CDTF">2026-05-11T10:30:08Z</dcterms:created>
  <dcterms:modified xsi:type="dcterms:W3CDTF">2026-05-11T10:30:08Z</dcterms:modified>
</cp:coreProperties>
</file>